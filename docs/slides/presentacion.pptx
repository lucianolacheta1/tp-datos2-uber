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2701E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1371600"/>
            <a:ext cx="237744" cy="237744"/>
          </a:xfrm>
          <a:prstGeom prst="ellipse">
            <a:avLst/>
          </a:prstGeom>
          <a:solidFill>
            <a:srgbClr val="336791"/>
          </a:solidFill>
          <a:ln/>
        </p:spPr>
      </p:sp>
      <p:sp>
        <p:nvSpPr>
          <p:cNvPr id="4" name="Shape 2"/>
          <p:cNvSpPr/>
          <p:nvPr/>
        </p:nvSpPr>
        <p:spPr>
          <a:xfrm>
            <a:off x="950976" y="1371600"/>
            <a:ext cx="237744" cy="237744"/>
          </a:xfrm>
          <a:prstGeom prst="ellipse">
            <a:avLst/>
          </a:prstGeom>
          <a:solidFill>
            <a:srgbClr val="12A14B"/>
          </a:solidFill>
          <a:ln/>
        </p:spPr>
      </p:sp>
      <p:sp>
        <p:nvSpPr>
          <p:cNvPr id="5" name="Shape 3"/>
          <p:cNvSpPr/>
          <p:nvPr/>
        </p:nvSpPr>
        <p:spPr>
          <a:xfrm>
            <a:off x="1335024" y="1371600"/>
            <a:ext cx="237744" cy="23774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6" name="Shape 4"/>
          <p:cNvSpPr/>
          <p:nvPr/>
        </p:nvSpPr>
        <p:spPr>
          <a:xfrm>
            <a:off x="1719072" y="1371600"/>
            <a:ext cx="237744" cy="237744"/>
          </a:xfrm>
          <a:prstGeom prst="ellipse">
            <a:avLst/>
          </a:prstGeom>
          <a:solidFill>
            <a:srgbClr val="8E5BD0"/>
          </a:solidFill>
          <a:ln/>
        </p:spPr>
      </p:sp>
      <p:sp>
        <p:nvSpPr>
          <p:cNvPr id="7" name="Shape 5"/>
          <p:cNvSpPr/>
          <p:nvPr/>
        </p:nvSpPr>
        <p:spPr>
          <a:xfrm>
            <a:off x="2103120" y="1371600"/>
            <a:ext cx="237744" cy="237744"/>
          </a:xfrm>
          <a:prstGeom prst="ellipse">
            <a:avLst/>
          </a:prstGeom>
          <a:solidFill>
            <a:srgbClr val="D82C2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2880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TP UBER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566928" y="3063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datos multi-base para una plataforma de transporte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66928" y="3886200"/>
            <a:ext cx="3840480" cy="36576"/>
          </a:xfrm>
          <a:prstGeom prst="rect">
            <a:avLst/>
          </a:prstGeom>
          <a:solidFill>
            <a:srgbClr val="F2701E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411480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2 — UADE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Cátedra: Prof. Mosquera Prada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Integrantes: Luciano Lacheta · [integrante 2] · [integrante 3] · [integrante 4] · [integrante 5]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FA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de defensa: [completar]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622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F2701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7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2062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requisito que define el TP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6766560" cy="2834640"/>
          </a:xfrm>
          <a:prstGeom prst="rect">
            <a:avLst/>
          </a:prstGeom>
          <a:solidFill>
            <a:srgbClr val="243463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554480"/>
            <a:ext cx="109728" cy="2834640"/>
          </a:xfrm>
          <a:prstGeom prst="rect">
            <a:avLst/>
          </a:prstGeom>
          <a:solidFill>
            <a:srgbClr val="F2701E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783080"/>
            <a:ext cx="6126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"No les voy a evaluar código… lo que sí me interesa ver es cómo interactúan las bases de datos entre sí."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36576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Prof. Mosquera Prada (video de presentación del TP)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589520" y="1691640"/>
            <a:ext cx="40233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27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construimos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app tipo Uber (consola con menú) sobre 5 bases de datos.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27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criterio clave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bases deben interactuar y mantener consistencia. Que no lo hagan es motivo de desaprobar.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4754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5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relacional + 4 NoSQL · Todo en la nube · Cada acción escribe en varias bases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224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Uber  ·  Datos 2 (UADE)  ·  Cátedra Mosquera Prada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7295" y="65653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622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F2701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7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2062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Modificaciones al DER y su justificación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4114800" cy="3657600"/>
          </a:xfrm>
          <a:prstGeom prst="rect">
            <a:avLst/>
          </a:prstGeom>
          <a:solidFill>
            <a:srgbClr val="E9EDF5"/>
          </a:solidFill>
          <a:ln w="19050">
            <a:solidFill>
              <a:srgbClr val="2E5BB8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48640" y="1554480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Imagen del DER original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(Uber.pdf) 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5257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conceptual recibido — se respeta el modelo de negocio</a:t>
            </a:r>
            <a:endParaRPr lang="en-US" sz="10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554480"/>
          <a:ext cx="667512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3200400"/>
                <a:gridCol w="29718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Cambio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Reseña: FKs polimórficas → 2 FKs + discriminador tipo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FK no puede apuntar a Usuario o Conductor a la vez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Conductor–Vehículo: 1..* → 0..*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conductor puede registrarse antes de cargar su auto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en email, nro_licencia y placa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Evita cuentas/registros duplicados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 con dominio enumerado (CHECK)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 libre permitía cualquier string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duracion_min marcado como derivado (/)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calcula de ts_fin − ts_inicio (se guarda por performance)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224A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Uber  ·  Datos 2 (UADE)  ·  Cátedra Mosquera Prada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7295" y="65653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622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F2701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7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2062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Cinco bases, una por paradigma — todo cloud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64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81328"/>
            <a:ext cx="118872" cy="841248"/>
          </a:xfrm>
          <a:prstGeom prst="rect">
            <a:avLst/>
          </a:prstGeom>
          <a:solidFill>
            <a:srgbClr val="336791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1719072"/>
            <a:ext cx="365760" cy="365760"/>
          </a:xfrm>
          <a:prstGeom prst="ellipse">
            <a:avLst/>
          </a:prstGeom>
          <a:solidFill>
            <a:srgbClr val="336791"/>
          </a:solidFill>
          <a:ln/>
        </p:spPr>
      </p:sp>
      <p:sp>
        <p:nvSpPr>
          <p:cNvPr id="9" name="Text 7"/>
          <p:cNvSpPr/>
          <p:nvPr/>
        </p:nvSpPr>
        <p:spPr>
          <a:xfrm>
            <a:off x="1417320" y="1481328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840480" y="1481328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09360" y="1481328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83880" y="1481328"/>
            <a:ext cx="3337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identidad (usuario, conductor, vehículo)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432304"/>
            <a:ext cx="11064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432304"/>
            <a:ext cx="118872" cy="841248"/>
          </a:xfrm>
          <a:prstGeom prst="rect">
            <a:avLst/>
          </a:prstGeom>
          <a:solidFill>
            <a:srgbClr val="12A14B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2670048"/>
            <a:ext cx="365760" cy="365760"/>
          </a:xfrm>
          <a:prstGeom prst="ellipse">
            <a:avLst/>
          </a:prstGeom>
          <a:solidFill>
            <a:srgbClr val="12A14B"/>
          </a:solidFill>
          <a:ln/>
        </p:spPr>
      </p:sp>
      <p:sp>
        <p:nvSpPr>
          <p:cNvPr id="16" name="Text 14"/>
          <p:cNvSpPr/>
          <p:nvPr/>
        </p:nvSpPr>
        <p:spPr>
          <a:xfrm>
            <a:off x="1417320" y="2432304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840480" y="2432304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2432304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83880" y="2432304"/>
            <a:ext cx="3337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operativos: viajes, pagos, reseñas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383280"/>
            <a:ext cx="11064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383280"/>
            <a:ext cx="118872" cy="84124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2" name="Shape 20"/>
          <p:cNvSpPr/>
          <p:nvPr/>
        </p:nvSpPr>
        <p:spPr>
          <a:xfrm>
            <a:off x="868680" y="3621024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3" name="Text 21"/>
          <p:cNvSpPr/>
          <p:nvPr/>
        </p:nvSpPr>
        <p:spPr>
          <a:xfrm>
            <a:off x="1417320" y="3383280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Cassandra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3840480" y="3383280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Columnar / time-series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09360" y="3383280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DataStax Astra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183880" y="3383280"/>
            <a:ext cx="3337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Ubicaciones GPS + agregados por día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4334256"/>
            <a:ext cx="11064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8640" y="4334256"/>
            <a:ext cx="118872" cy="841248"/>
          </a:xfrm>
          <a:prstGeom prst="rect">
            <a:avLst/>
          </a:prstGeom>
          <a:solidFill>
            <a:srgbClr val="8E5BD0"/>
          </a:solidFill>
          <a:ln/>
        </p:spPr>
      </p:sp>
      <p:sp>
        <p:nvSpPr>
          <p:cNvPr id="29" name="Shape 27"/>
          <p:cNvSpPr/>
          <p:nvPr/>
        </p:nvSpPr>
        <p:spPr>
          <a:xfrm>
            <a:off x="868680" y="4572000"/>
            <a:ext cx="365760" cy="365760"/>
          </a:xfrm>
          <a:prstGeom prst="ellipse">
            <a:avLst/>
          </a:prstGeom>
          <a:solidFill>
            <a:srgbClr val="8E5BD0"/>
          </a:solidFill>
          <a:ln/>
        </p:spPr>
      </p:sp>
      <p:sp>
        <p:nvSpPr>
          <p:cNvPr id="30" name="Text 28"/>
          <p:cNvSpPr/>
          <p:nvPr/>
        </p:nvSpPr>
        <p:spPr>
          <a:xfrm>
            <a:off x="1417320" y="4334256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3840480" y="4334256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309360" y="4334256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183880" y="4334256"/>
            <a:ext cx="3337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Coincidencias pasajero-conductor + vehículos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48640" y="5285232"/>
            <a:ext cx="11064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48640" y="5285232"/>
            <a:ext cx="118872" cy="841248"/>
          </a:xfrm>
          <a:prstGeom prst="rect">
            <a:avLst/>
          </a:prstGeom>
          <a:solidFill>
            <a:srgbClr val="D82C20"/>
          </a:solidFill>
          <a:ln/>
        </p:spPr>
      </p:sp>
      <p:sp>
        <p:nvSpPr>
          <p:cNvPr id="36" name="Shape 34"/>
          <p:cNvSpPr/>
          <p:nvPr/>
        </p:nvSpPr>
        <p:spPr>
          <a:xfrm>
            <a:off x="868680" y="5522976"/>
            <a:ext cx="365760" cy="365760"/>
          </a:xfrm>
          <a:prstGeom prst="ellipse">
            <a:avLst/>
          </a:prstGeom>
          <a:solidFill>
            <a:srgbClr val="D82C20"/>
          </a:solidFill>
          <a:ln/>
        </p:spPr>
      </p:sp>
      <p:sp>
        <p:nvSpPr>
          <p:cNvPr id="37" name="Text 35"/>
          <p:cNvSpPr/>
          <p:nvPr/>
        </p:nvSpPr>
        <p:spPr>
          <a:xfrm>
            <a:off x="1417320" y="5285232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3840480" y="5285232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Key-value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309360" y="5285232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Cloud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183880" y="5285232"/>
            <a:ext cx="3337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con TTL + cache + última posición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548640" y="63093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de las 5 consolas cloud → slide de respaldo / demo en vivo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224A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Uber  ·  Datos 2 (UADE)  ·  Cátedra Mosquera Prada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277295" y="65653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622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F2701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7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2062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Postgres mínimo + NoSQL operativas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3017520" cy="3291840"/>
          </a:xfrm>
          <a:prstGeom prst="rect">
            <a:avLst/>
          </a:prstGeom>
          <a:solidFill>
            <a:srgbClr val="EAF1F7"/>
          </a:solidFill>
          <a:ln w="25400">
            <a:solidFill>
              <a:srgbClr val="336791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737360"/>
            <a:ext cx="3017520" cy="502920"/>
          </a:xfrm>
          <a:prstGeom prst="rect">
            <a:avLst/>
          </a:prstGeom>
          <a:solidFill>
            <a:srgbClr val="33679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Identidad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423160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6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mínimo e inmutable: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conductor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vehiculo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703320" y="3383280"/>
            <a:ext cx="685800" cy="0"/>
          </a:xfrm>
          <a:prstGeom prst="line">
            <a:avLst/>
          </a:prstGeom>
          <a:noFill/>
          <a:ln w="38100">
            <a:solidFill>
              <a:srgbClr val="F2701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572000" y="1737360"/>
            <a:ext cx="34290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1737360"/>
            <a:ext cx="3429000" cy="91440"/>
          </a:xfrm>
          <a:prstGeom prst="rect">
            <a:avLst/>
          </a:prstGeom>
          <a:solidFill>
            <a:srgbClr val="12A14B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93852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A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54880" y="239572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viajes · pagos · reseñas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65592" y="1737360"/>
            <a:ext cx="34290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65592" y="1737360"/>
            <a:ext cx="3429000" cy="9144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7" name="Text 15"/>
          <p:cNvSpPr/>
          <p:nvPr/>
        </p:nvSpPr>
        <p:spPr>
          <a:xfrm>
            <a:off x="8348472" y="193852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Cassandra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48472" y="239572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(time-series) + agregados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0" y="3474720"/>
            <a:ext cx="34290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3474720"/>
            <a:ext cx="3429000" cy="91440"/>
          </a:xfrm>
          <a:prstGeom prst="rect">
            <a:avLst/>
          </a:prstGeom>
          <a:solidFill>
            <a:srgbClr val="8E5BD0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36758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E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754880" y="413308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coincidencias + vehículos como nodos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165592" y="3474720"/>
            <a:ext cx="34290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65592" y="3474720"/>
            <a:ext cx="3429000" cy="91440"/>
          </a:xfrm>
          <a:prstGeom prst="rect">
            <a:avLst/>
          </a:prstGeom>
          <a:solidFill>
            <a:srgbClr val="D82C20"/>
          </a:solidFill>
          <a:ln/>
        </p:spPr>
      </p:sp>
      <p:sp>
        <p:nvSpPr>
          <p:cNvPr id="25" name="Text 23"/>
          <p:cNvSpPr/>
          <p:nvPr/>
        </p:nvSpPr>
        <p:spPr>
          <a:xfrm>
            <a:off x="8348472" y="36758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2C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348472" y="413308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(TTL) · cache · última pos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0080" y="5257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base hace lo que mejor sabe. Postgres no se fuerza a lo que las NoSQL resuelven mejor — ni al revés.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224A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Uber  ·  Datos 2 (UADE)  ·  Cátedra Mosquera Prada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7295" y="65653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622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F2701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7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2062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7 casos → cada uno luce una base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76809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4206240"/>
                <a:gridCol w="29260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 de uso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que lo resuelve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3 reseñadores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 (aggregate) + cache Redis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 de pago menos usado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 (aggregate)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Conductores inactivos del último mes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Cassandra + Postgres (join app-side)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 promedio de viajes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Cassandra + cache Redis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Pasajero-conductor con más de 1 viaje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Neo4j (grafo)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Toyota con patente terminada en 'D'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Neo4j (grafo)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Reseñas con rating 5 o menor a 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 (find)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458200" y="1508760"/>
            <a:ext cx="3154680" cy="4114800"/>
          </a:xfrm>
          <a:prstGeom prst="rect">
            <a:avLst/>
          </a:prstGeom>
          <a:solidFill>
            <a:srgbClr val="243463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41080" y="16916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Distribución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686800" y="2286000"/>
            <a:ext cx="256032" cy="256032"/>
          </a:xfrm>
          <a:prstGeom prst="ellipse">
            <a:avLst/>
          </a:prstGeom>
          <a:solidFill>
            <a:srgbClr val="12A14B"/>
          </a:solidFill>
          <a:ln/>
        </p:spPr>
      </p:sp>
      <p:sp>
        <p:nvSpPr>
          <p:cNvPr id="10" name="Text 7"/>
          <p:cNvSpPr/>
          <p:nvPr/>
        </p:nvSpPr>
        <p:spPr>
          <a:xfrm>
            <a:off x="9098280" y="22219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0058400" y="22219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casos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686800" y="2944368"/>
            <a:ext cx="256032" cy="25603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3" name="Text 10"/>
          <p:cNvSpPr/>
          <p:nvPr/>
        </p:nvSpPr>
        <p:spPr>
          <a:xfrm>
            <a:off x="9098280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Cassandra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0058400" y="28803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casos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686800" y="3602736"/>
            <a:ext cx="256032" cy="256032"/>
          </a:xfrm>
          <a:prstGeom prst="ellipse">
            <a:avLst/>
          </a:prstGeom>
          <a:solidFill>
            <a:srgbClr val="8E5BD0"/>
          </a:solidFill>
          <a:ln/>
        </p:spPr>
      </p:sp>
      <p:sp>
        <p:nvSpPr>
          <p:cNvPr id="16" name="Text 13"/>
          <p:cNvSpPr/>
          <p:nvPr/>
        </p:nvSpPr>
        <p:spPr>
          <a:xfrm>
            <a:off x="9098280" y="35387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10058400" y="35387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casos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686800" y="4261104"/>
            <a:ext cx="256032" cy="256032"/>
          </a:xfrm>
          <a:prstGeom prst="ellipse">
            <a:avLst/>
          </a:prstGeom>
          <a:solidFill>
            <a:srgbClr val="336791"/>
          </a:solidFill>
          <a:ln/>
        </p:spPr>
      </p:sp>
      <p:sp>
        <p:nvSpPr>
          <p:cNvPr id="19" name="Text 16"/>
          <p:cNvSpPr/>
          <p:nvPr/>
        </p:nvSpPr>
        <p:spPr>
          <a:xfrm>
            <a:off x="9098280" y="419709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10058400" y="419709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/ identidad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686800" y="4919472"/>
            <a:ext cx="256032" cy="256032"/>
          </a:xfrm>
          <a:prstGeom prst="ellipse">
            <a:avLst/>
          </a:prstGeom>
          <a:solidFill>
            <a:srgbClr val="D82C20"/>
          </a:solidFill>
          <a:ln/>
        </p:spPr>
      </p:sp>
      <p:sp>
        <p:nvSpPr>
          <p:cNvPr id="22" name="Text 19"/>
          <p:cNvSpPr/>
          <p:nvPr/>
        </p:nvSpPr>
        <p:spPr>
          <a:xfrm>
            <a:off x="9098280" y="485546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10058400" y="485546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transversal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224A"/>
          </a:solidFill>
          <a:ln/>
        </p:spPr>
      </p:sp>
      <p:sp>
        <p:nvSpPr>
          <p:cNvPr id="25" name="Text 22"/>
          <p:cNvSpPr/>
          <p:nvPr/>
        </p:nvSpPr>
        <p:spPr>
          <a:xfrm>
            <a:off x="45720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Uber  ·  Datos 2 (UADE)  ·  Cátedra Mosquera Prada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277295" y="65653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622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F2701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7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INTERACCIÓN ENTRE BASES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2062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sola acción → 4 bases en simultáneo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2834640" cy="1371600"/>
          </a:xfrm>
          <a:prstGeom prst="roundRect">
            <a:avLst>
              <a:gd name="adj" fmla="val 8000"/>
            </a:avLst>
          </a:prstGeom>
          <a:solidFill>
            <a:srgbClr val="F2701E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74320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Finalizar viaje</a:t>
            </a:r>
            <a:endParaRPr lang="en-US" sz="1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(una acción del usuario)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474720" y="3429000"/>
            <a:ext cx="1097280" cy="-1394460"/>
          </a:xfrm>
          <a:prstGeom prst="line">
            <a:avLst/>
          </a:prstGeom>
          <a:noFill/>
          <a:ln w="31750">
            <a:solidFill>
              <a:srgbClr val="12A14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72000" y="1600200"/>
            <a:ext cx="69494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600200"/>
            <a:ext cx="109728" cy="868680"/>
          </a:xfrm>
          <a:prstGeom prst="rect">
            <a:avLst/>
          </a:prstGeom>
          <a:solidFill>
            <a:srgbClr val="12A14B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6916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A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40880" y="169164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viaje → FINALIZADO  (Source of Truth)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474720" y="3429000"/>
            <a:ext cx="1097280" cy="-269748"/>
          </a:xfrm>
          <a:prstGeom prst="line">
            <a:avLst/>
          </a:prstGeom>
          <a:noFill/>
          <a:ln w="3175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572000" y="2724912"/>
            <a:ext cx="69494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2724912"/>
            <a:ext cx="109728" cy="86868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281635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Cassandra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040880" y="2816352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ultima_actividad + viajes_finalizados_por_dia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474720" y="3429000"/>
            <a:ext cx="1097280" cy="854964"/>
          </a:xfrm>
          <a:prstGeom prst="line">
            <a:avLst/>
          </a:prstGeom>
          <a:noFill/>
          <a:ln w="31750">
            <a:solidFill>
              <a:srgbClr val="8E5BD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572000" y="3849624"/>
            <a:ext cx="69494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3849624"/>
            <a:ext cx="109728" cy="868680"/>
          </a:xfrm>
          <a:prstGeom prst="rect">
            <a:avLst/>
          </a:prstGeom>
          <a:solidFill>
            <a:srgbClr val="8E5BD0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3941064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E5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40880" y="3941064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arista VIAJO_CON  +1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474720" y="3429000"/>
            <a:ext cx="1097280" cy="1979676"/>
          </a:xfrm>
          <a:prstGeom prst="line">
            <a:avLst/>
          </a:prstGeom>
          <a:noFill/>
          <a:ln w="31750">
            <a:solidFill>
              <a:srgbClr val="D82C2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572000" y="4974336"/>
            <a:ext cx="69494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4974336"/>
            <a:ext cx="109728" cy="868680"/>
          </a:xfrm>
          <a:prstGeom prst="rect">
            <a:avLst/>
          </a:prstGeom>
          <a:solidFill>
            <a:srgbClr val="D82C20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5065776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2C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40880" y="5065776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invalida cache de "tiempo promedio"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write-through best-effort: el SOT primero (crítico); las proyecciones se intentan y, si fallan, van a un outbox + reconciliación.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224A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65653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Uber  ·  Datos 2 (UADE)  ·  Cátedra Mosquera Prada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7295" y="65653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2701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Lecciones aprendidas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515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6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diversidad de paradigmas deja que cada base resuelva lo que mejor sabe.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6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 consistencia sin transacciones distribuidas pide un patrón explícito (write-through + reconciliación).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6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no debe forzarse a lo que las NoSQL hacen mejor — ni viceversa.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6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flexibilidad de Mongo resolvió naturalmente el polimorfismo de Reseña, ambiguo en SQL.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6E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caso 5 (coincidencias) muestra cómo un problema 'feo' en SQL se vuelve trivial en un grafo.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983480"/>
            <a:ext cx="3657600" cy="45720"/>
          </a:xfrm>
          <a:prstGeom prst="rect">
            <a:avLst/>
          </a:prstGeom>
          <a:solidFill>
            <a:srgbClr val="F2701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52120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Gracias. ¿Preguntas?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 Uber - Datos 2 (UADE)</dc:title>
  <dc:subject>PptxGenJS Presentation</dc:subject>
  <dc:creator>Equipo TP Uber</dc:creator>
  <cp:lastModifiedBy>Equipo TP Uber</cp:lastModifiedBy>
  <cp:revision>1</cp:revision>
  <dcterms:created xsi:type="dcterms:W3CDTF">2026-06-05T22:45:20Z</dcterms:created>
  <dcterms:modified xsi:type="dcterms:W3CDTF">2026-06-05T22:45:20Z</dcterms:modified>
</cp:coreProperties>
</file>